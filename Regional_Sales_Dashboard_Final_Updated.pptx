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14173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 sz="3000" b="1"/>
              <a:t>Regional Sales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743200"/>
            <a:ext cx="45720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/>
              <a:t>Team Members</a:t>
            </a:r>
          </a:p>
          <a:p>
            <a:pPr algn="ctr">
              <a:spcBef>
                <a:spcPts val="1000"/>
              </a:spcBef>
            </a:pPr>
            <a:r>
              <a:rPr sz="2000"/>
              <a:t>Sachin S</a:t>
            </a:r>
          </a:p>
          <a:p>
            <a:pPr algn="ctr">
              <a:spcBef>
                <a:spcPts val="1000"/>
              </a:spcBef>
            </a:pPr>
            <a:r>
              <a:rPr sz="2000"/>
              <a:t>Seethapathi 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D"/>
                </a:solidFill>
              </a:defRPr>
            </a:pPr>
            <a:r>
              <a:t>1. Introduction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830"/>
                </a:solidFill>
              </a:defRPr>
            </a:pPr>
            <a:r>
              <a:t>A visual system for monitoring regional sales performance.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257800" cy="438912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B4D"/>
                </a:solidFill>
              </a:defRPr>
            </a:pPr>
            <a:r>
              <a:t>Project Objectives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t>• Combines sales data from multiple regions in one dashboard.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t>• Tracks revenue, targets, growth and product performance.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t>• Helps managers identify high- and low-performing regions.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t>• Supports faster, data-driven business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00200"/>
            <a:ext cx="1600200" cy="1325880"/>
          </a:xfrm>
          <a:prstGeom prst="round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₹3.00 Cr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Total Sales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600200"/>
            <a:ext cx="1600200" cy="1325880"/>
          </a:xfrm>
          <a:prstGeom prst="roundRect">
            <a:avLst/>
          </a:prstGeom>
          <a:solidFill>
            <a:srgbClr val="34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84%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Target Achieved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29800" y="1600200"/>
            <a:ext cx="1600200" cy="1325880"/>
          </a:xfrm>
          <a:prstGeom prst="roundRect">
            <a:avLst/>
          </a:prstGeom>
          <a:solidFill>
            <a:srgbClr val="E6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4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Regions</a:t>
            </a:r>
          </a:p>
        </p:txBody>
      </p:sp>
      <p:pic>
        <p:nvPicPr>
          <p:cNvPr id="8" name="Picture 7" descr="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3154680"/>
            <a:ext cx="5394960" cy="2640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6019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D"/>
                </a:solidFill>
              </a:defRPr>
            </a:pPr>
            <a:r>
              <a:t>2. Dashboard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830"/>
                </a:solidFill>
              </a:defRPr>
            </a:pPr>
            <a:r>
              <a:t>Key metrics and visuals used to understand regional performance.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07592"/>
            <a:ext cx="4480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B4D"/>
                </a:solidFill>
              </a:defRPr>
            </a:pPr>
            <a:r>
              <a:t>Sales KPI Cards</a:t>
            </a:r>
          </a:p>
          <a:p>
            <a:pPr>
              <a:defRPr sz="1200">
                <a:solidFill>
                  <a:srgbClr val="232830"/>
                </a:solidFill>
              </a:defRPr>
            </a:pPr>
            <a:r>
              <a:t>Revenue, target, growth and order count.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286000"/>
            <a:ext cx="502920" cy="502920"/>
          </a:xfrm>
          <a:prstGeom prst="ellipse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5000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67712"/>
            <a:ext cx="4480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B4D"/>
                </a:solidFill>
              </a:defRPr>
            </a:pPr>
            <a:r>
              <a:t>Regional Comparison</a:t>
            </a:r>
          </a:p>
          <a:p>
            <a:pPr>
              <a:defRPr sz="1200">
                <a:solidFill>
                  <a:srgbClr val="232830"/>
                </a:solidFill>
              </a:defRPr>
            </a:pPr>
            <a:r>
              <a:t>Compare sales across North, South, East and West.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246120"/>
            <a:ext cx="502920" cy="502920"/>
          </a:xfrm>
          <a:prstGeom prst="ellipse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310127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27832"/>
            <a:ext cx="4480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B4D"/>
                </a:solidFill>
              </a:defRPr>
            </a:pPr>
            <a:r>
              <a:t>Trend Analysis</a:t>
            </a:r>
          </a:p>
          <a:p>
            <a:pPr>
              <a:defRPr sz="1200">
                <a:solidFill>
                  <a:srgbClr val="232830"/>
                </a:solidFill>
              </a:defRPr>
            </a:pPr>
            <a:r>
              <a:t>Monthly and quarterly sales movement.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206240"/>
            <a:ext cx="502920" cy="502920"/>
          </a:xfrm>
          <a:prstGeom prst="ellipse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27024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87952"/>
            <a:ext cx="4480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B4D"/>
                </a:solidFill>
              </a:defRPr>
            </a:pPr>
            <a:r>
              <a:t>Product Insights</a:t>
            </a:r>
          </a:p>
          <a:p>
            <a:pPr>
              <a:defRPr sz="1200">
                <a:solidFill>
                  <a:srgbClr val="232830"/>
                </a:solidFill>
              </a:defRPr>
            </a:pPr>
            <a:r>
              <a:t>Identify products contributing most to revenue.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166360"/>
            <a:ext cx="502920" cy="502920"/>
          </a:xfrm>
          <a:prstGeom prst="ellipse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2303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148072"/>
            <a:ext cx="4480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B4D"/>
                </a:solidFill>
              </a:defRPr>
            </a:pPr>
            <a:r>
              <a:t>Filters</a:t>
            </a:r>
          </a:p>
          <a:p>
            <a:pPr>
              <a:defRPr sz="1200">
                <a:solidFill>
                  <a:srgbClr val="232830"/>
                </a:solidFill>
              </a:defRPr>
            </a:pPr>
            <a:r>
              <a:t>Region, date, product and sales representative.</a:t>
            </a:r>
          </a:p>
        </p:txBody>
      </p:sp>
      <p:pic>
        <p:nvPicPr>
          <p:cNvPr id="19" name="Picture 18" descr="regional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029200" cy="288467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0" y="66019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D"/>
                </a:solidFill>
              </a:defRPr>
            </a:pPr>
            <a:r>
              <a:t>3. Sample Regional Sales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830"/>
                </a:solidFill>
              </a:defRPr>
            </a:pPr>
            <a:r>
              <a:t>Illustrative dashboard view using sample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4983480"/>
          </a:xfrm>
          <a:prstGeom prst="roundRect">
            <a:avLst/>
          </a:prstGeom>
          <a:solidFill>
            <a:srgbClr val="EFF4FA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62B4D"/>
                </a:solidFill>
              </a:defRPr>
            </a:pPr>
            <a:r>
              <a:t>₹3.00 Cr</a:t>
            </a:r>
          </a:p>
          <a:p>
            <a:pPr algn="ctr">
              <a:defRPr sz="1100">
                <a:solidFill>
                  <a:srgbClr val="232830"/>
                </a:solidFill>
              </a:defRPr>
            </a:pPr>
            <a:r>
              <a:t>Revenue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55448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62B4D"/>
                </a:solidFill>
              </a:defRPr>
            </a:pPr>
            <a:r>
              <a:t>1,240</a:t>
            </a:r>
          </a:p>
          <a:p>
            <a:pPr algn="ctr">
              <a:defRPr sz="1100">
                <a:solidFill>
                  <a:srgbClr val="232830"/>
                </a:solidFill>
              </a:defRPr>
            </a:pPr>
            <a:r>
              <a:t>Orders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55448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62B4D"/>
                </a:solidFill>
              </a:defRPr>
            </a:pPr>
            <a:r>
              <a:t>+12.5%</a:t>
            </a:r>
          </a:p>
          <a:p>
            <a:pPr algn="ctr">
              <a:defRPr sz="1100">
                <a:solidFill>
                  <a:srgbClr val="232830"/>
                </a:solidFill>
              </a:defRPr>
            </a:pPr>
            <a:r>
              <a:t>Growth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55448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62B4D"/>
                </a:solidFill>
              </a:defRPr>
            </a:pPr>
            <a:r>
              <a:t>84%</a:t>
            </a:r>
          </a:p>
          <a:p>
            <a:pPr algn="ctr">
              <a:defRPr sz="1100">
                <a:solidFill>
                  <a:srgbClr val="232830"/>
                </a:solidFill>
              </a:defRPr>
            </a:pPr>
            <a:r>
              <a:t>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32830"/>
                </a:solidFill>
              </a:defRPr>
            </a:pPr>
            <a:r>
              <a:t>North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862072"/>
            <a:ext cx="347472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2862072"/>
            <a:ext cx="2501798" cy="22860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281635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62B4D"/>
                </a:solidFill>
              </a:defRPr>
            </a:pPr>
            <a:r>
              <a:t>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74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32830"/>
                </a:solidFill>
              </a:defRPr>
            </a:pPr>
            <a:r>
              <a:t>South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3502151"/>
            <a:ext cx="347472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3502151"/>
            <a:ext cx="3057753" cy="22860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345643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62B4D"/>
                </a:solidFill>
              </a:defRPr>
            </a:pPr>
            <a:r>
              <a:t>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14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32830"/>
                </a:solidFill>
              </a:defRPr>
            </a:pPr>
            <a:r>
              <a:t>East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4142232"/>
            <a:ext cx="347472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0" y="4142232"/>
            <a:ext cx="2119579" cy="22860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409651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62B4D"/>
                </a:solidFill>
              </a:defRPr>
            </a:pPr>
            <a:r>
              <a:t>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754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32830"/>
                </a:solidFill>
              </a:defRPr>
            </a:pPr>
            <a:r>
              <a:t>West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4782312"/>
            <a:ext cx="347472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0" y="4782312"/>
            <a:ext cx="2745028" cy="22860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473659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62B4D"/>
                </a:solidFill>
              </a:defRPr>
            </a:pPr>
            <a:r>
              <a:t>79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743200"/>
            <a:ext cx="4754880" cy="26517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B4D"/>
                </a:solidFill>
              </a:defRPr>
            </a:pPr>
            <a:r>
              <a:t>Quick Insights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t>• South region shows the highest sample sales.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t>• East region needs closer performance review.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t>• Monthly trend indicates overall upward movement.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0" y="66019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D"/>
                </a:solidFill>
              </a:defRPr>
            </a:pPr>
            <a:r>
              <a:t>4. Benefits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830"/>
                </a:solidFill>
              </a:defRPr>
            </a:pPr>
            <a:r>
              <a:t>How the dashboard can support sales teams and future enhancements.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57800" cy="44805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B4D"/>
                </a:solidFill>
              </a:defRPr>
            </a:pPr>
            <a:r>
              <a:t>Benefits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t>• Faster reporting with a single source of sales information.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t>• Easy comparison of regions against targets.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t>• Helps identify trends and performance gaps.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t>• Improves communication between sales teams and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71600"/>
            <a:ext cx="5257800" cy="44805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B4D"/>
                </a:solidFill>
              </a:defRPr>
            </a:pPr>
            <a:r>
              <a:t>Future Scope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t>• Real-time data integration from CRM/ERP systems.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t>• Interactive filters and drill-down reports.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t>• Forecasting using historical sales trends.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t>• Mobile-friendly dashboard and automated alerts.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6019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503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DCE6F2"/>
                </a:solidFill>
              </a:defRPr>
            </a:pPr>
            <a:r>
              <a:t>Questions &amp; Discussion</a:t>
            </a:r>
          </a:p>
          <a:p>
            <a:pPr algn="ctr">
              <a:defRPr sz="1600">
                <a:solidFill>
                  <a:srgbClr val="DCE6F2"/>
                </a:solidFill>
              </a:defRPr>
            </a:pPr>
            <a:r>
              <a:t>Sachin S</a:t>
            </a:r>
          </a:p>
          <a:p>
            <a:pPr algn="ctr">
              <a:defRPr sz="1600">
                <a:solidFill>
                  <a:srgbClr val="DCE6F2"/>
                </a:solidFill>
              </a:defRPr>
            </a:pPr>
            <a:r>
              <a:t>Seethapathi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6019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